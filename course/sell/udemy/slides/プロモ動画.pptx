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つかみ）AIに、コードを書かせる時代になりました。でも――AIは平気で間違えます。この講座のテーマはひとつ。『AIに書かせるな。AIを疑え』。AIを鵜呑みにせず、使いこなして、自分で作れる人になる。パソコン未経験の方が、Laravelでアプリを作りきるまでを、一本道で学び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悩み）プログラミング学習の挫折率は高いと言われます。でも原因は驚くほど決まっていて、この4つです。環境構築で詰む。エラーが読めず止まる。写経しても身につかない。そしてAIに丸投げして詰む。この講座は、この4つを潰すためだけに作り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AIの落とし穴）AIはとても便利です。でも、平気で間違えます。存在しない関数を提案したり、古い情報を返したり。いちばん怖いのは、脆弱性を含んだまま『動いてしまう』こと。動くから、初学者には問題が見えません。だからこの講座は、『動いた＝正しい』という思い込みを、最初に捨て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（解決）そこで、この教材は3つを約束します。1つ、手順は分岐まで書く。2つ、AIの使い方を技術として教える。3つ、必ず動くものが残る。修了する頃には、あなたのGitHubに5つの作品が並びます。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成果物）学ぶために作るのではなく、作るために学びます。カフェのランディングページ、ToDoアプリ、掲示板、そして認証つきのフリマアプリ。最後は、あなた自身のオリジナル作品。5本すべてが、ポートフォリオにな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差別化）そしてこの講座は、AIに任せられない人間の力まで扱います。クリティカルシンキング――鵜呑みにせず検証する力。そして仕様で考える力――何を、なぜ作るかを決める力。技術が変わっても通用する、一生モノのスキル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対象）この教材は、完全未経験の方や、独学で一度挫折した方のために作りました。副業や転職、社内DXで『自分で作れる力』が欲しい方にも。全83レッスン、約180時間。終える頃には、5つの作品が手元に残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CTA）技術は、AIという最強の相棒とともに、あなたのものになります。でも決めるのは、いつもあなた自身。さあ、AIを相棒に、自分で作れる人になりましょう。まずは、無料プレビューのレッスンからご覧ください。お待ちしてい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パソコン未経験から、一人で作りきるまで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109087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AIに書かせるな。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AIを疑え。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AIと一緒につくる Webアプリ開発入門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全7部・全83レッスン ／ 完成コード付き ／ HTML・CSS・JavaScript・PHP・MySQL・Laravel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なぜ、プログラミング学習は続かないのか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原因は、才能でも意志でもありません。次の4つ。そのすべてを、教材の設計で潰します。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5740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環境構築で詰む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「書いてある通りにやったのに動かない」。この教材は、うまくいかない時の分岐まで全部書きます。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277356" y="205740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エラーが読めず止まる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英語のエラーは3か所だけ拾えば読める。全レッスンに対策、巻末に症状別「エラー図鑑」。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29768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写経しても身につかない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読む→打つ→AIに説明させる→自分で変える。この4ステップを毎回踏みます。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277356" y="4297680"/>
            <a:ext cx="5271516" cy="1874520"/>
          </a:xfrm>
          <a:prstGeom prst="roundRect">
            <a:avLst>
              <a:gd name="adj" fmla="val 3902"/>
            </a:avLst>
          </a:prstGeom>
          <a:solidFill>
            <a:srgbClr val="EDF4F1"/>
          </a:solidFill>
          <a:ln/>
        </p:spPr>
        <p:txBody>
          <a:bodyPr wrap="square" lIns="127000" tIns="127000" rIns="127000" bIns="1270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AIに丸投げして詰む</a:t>
            </a:r>
            <a:endParaRPr lang="en-US" sz="160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AI活用を独立した学習項目に。聞き方・検証・任せてはいけない範囲まで教えます。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便利なAIには、落とし穴がある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5669280" cy="2377440"/>
          </a:xfrm>
          <a:prstGeom prst="roundRect">
            <a:avLst>
              <a:gd name="adj" fmla="val 3846"/>
            </a:avLst>
          </a:prstGeom>
          <a:solidFill>
            <a:srgbClr val="EEE9F7"/>
          </a:solidFill>
          <a:ln/>
        </p:spPr>
        <p:txBody>
          <a:bodyPr wrap="square" lIns="152400" tIns="152400" rIns="152400" bIns="1524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4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「動いた」</a:t>
            </a:r>
            <a:pPr algn="ctr" indent="0" marL="0">
              <a:buNone/>
            </a:pPr>
            <a:r>
              <a:rPr lang="en-US" sz="2600" b="1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＝ </a:t>
            </a:r>
            <a:pPr algn="ctr" indent="0" marL="0">
              <a:buNone/>
            </a:pPr>
            <a:r>
              <a:rPr lang="en-US" sz="2600" b="1" dirty="0">
                <a:solidFill>
                  <a:srgbClr val="6A4FA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「正しい」</a:t>
            </a:r>
            <a:pPr algn="ctr" indent="0" marL="0">
              <a:buNone/>
            </a:pPr>
            <a:r>
              <a:rPr lang="en-US" sz="26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ではない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583680" y="1737360"/>
            <a:ext cx="496519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存在しない関数を提案する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（例：strreverse — 実在しない）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情報が古い・バージョンがずれる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（削除済みの書き方を返す）
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脆弱性を含んだまま「動く」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（SQLインジェクション/XSS）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だから、この教材は3つを約束します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417320" y="1645920"/>
            <a:ext cx="10131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手順は「分岐」まで書く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「〇〇して」で終わらせない。うまくいかなかった時にどうするか、まで書く。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54680"/>
            <a:ext cx="566928" cy="566928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3063240"/>
            <a:ext cx="10131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AIの使い方を「技術」として教える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何を聞くか、答えをどう検証するか、どこから自分で理解すべきか、を独立して扱う。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566928" cy="566928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4480560"/>
            <a:ext cx="101315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必ず「動くもの」が手元に残る</a:t>
            </a:r>
            <a:endParaRPr lang="en-US" sz="1800" dirty="0"/>
          </a:p>
          <a:p>
            <a:pPr indent="0" marL="0">
              <a:buNone/>
            </a:pPr>
            <a:r>
              <a:rPr lang="en-US" sz="13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各部の最後に総合演習。修了時、GitHubに5つの作品が並びます。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手を動かして、5つの作品が残る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889150" cy="2377440"/>
          </a:xfrm>
          <a:prstGeom prst="roundRect">
            <a:avLst>
              <a:gd name="adj" fmla="val 4356"/>
            </a:avLst>
          </a:prstGeom>
          <a:solidFill>
            <a:srgbClr val="EDF4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3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カフェのLP</a:t>
            </a:r>
            <a:endParaRPr lang="en-US" sz="3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 / CSS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894990" y="2194560"/>
            <a:ext cx="1889150" cy="2377440"/>
          </a:xfrm>
          <a:prstGeom prst="roundRect">
            <a:avLst>
              <a:gd name="adj" fmla="val 4356"/>
            </a:avLst>
          </a:prstGeom>
          <a:solidFill>
            <a:srgbClr val="EDF4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3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ToDoアプリ</a:t>
            </a:r>
            <a:endParaRPr lang="en-US" sz="3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JavaScript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149901" y="2194560"/>
            <a:ext cx="1889150" cy="2377440"/>
          </a:xfrm>
          <a:prstGeom prst="roundRect">
            <a:avLst>
              <a:gd name="adj" fmla="val 4356"/>
            </a:avLst>
          </a:prstGeom>
          <a:solidFill>
            <a:srgbClr val="EDF4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3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掲示板</a:t>
            </a:r>
            <a:endParaRPr lang="en-US" sz="3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PHP + MySQL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404811" y="2194560"/>
            <a:ext cx="1889150" cy="2377440"/>
          </a:xfrm>
          <a:prstGeom prst="roundRect">
            <a:avLst>
              <a:gd name="adj" fmla="val 4356"/>
            </a:avLst>
          </a:prstGeom>
          <a:solidFill>
            <a:srgbClr val="EDF4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3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フリマアプリ</a:t>
            </a:r>
            <a:endParaRPr lang="en-US" sz="3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Laravel・認証つき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9659722" y="2194560"/>
            <a:ext cx="1889150" cy="2377440"/>
          </a:xfrm>
          <a:prstGeom prst="roundRect">
            <a:avLst>
              <a:gd name="adj" fmla="val 4356"/>
            </a:avLst>
          </a:prstGeom>
          <a:solidFill>
            <a:srgbClr val="EDF4F1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30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オリジナル作品</a:t>
            </a:r>
            <a:endParaRPr lang="en-US" sz="30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あなたの企画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AIに任せられない力まで、学ぶ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技術は変わり続けます。でも、この2つはどんな時代にも効き続けます。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225796" cy="2377440"/>
          </a:xfrm>
          <a:prstGeom prst="roundRect">
            <a:avLst>
              <a:gd name="adj" fmla="val 3846"/>
            </a:avLst>
          </a:prstGeom>
          <a:solidFill>
            <a:srgbClr val="13413A"/>
          </a:solidFill>
          <a:ln w="12700">
            <a:solidFill>
              <a:srgbClr val="0F766E"/>
            </a:solidFill>
          </a:ln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クリティカルシンキング
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CFE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AIや情報を鵜呑みにせず、主張・根拠・前提を分けて検証する力。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323076" y="2286000"/>
            <a:ext cx="5225796" cy="2377440"/>
          </a:xfrm>
          <a:prstGeom prst="roundRect">
            <a:avLst>
              <a:gd name="adj" fmla="val 3846"/>
            </a:avLst>
          </a:prstGeom>
          <a:solidFill>
            <a:srgbClr val="13413A"/>
          </a:solidFill>
          <a:ln w="12700">
            <a:solidFill>
              <a:srgbClr val="0F766E"/>
            </a:solidFill>
          </a:ln>
        </p:spPr>
        <p:txBody>
          <a:bodyPr wrap="square" lIns="203200" tIns="203200" rIns="203200" bIns="20320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仕様で考える力
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CFE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「何を・なぜ作るか」を決める力。AIに任せられない、いちばん価値の高い仕事。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こんな人のための教材です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640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プログラミング未経験〜独学で挫折した人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副業・転職・社内DXで「作れる力」が欲しい人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33029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AIを「なんとなく」使っていて、開発で活かしたい人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0" y="1737360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83  </a:t>
            </a:r>
            <a:pPr algn="l" indent="0" marL="0">
              <a:buNone/>
            </a:pPr>
            <a:r>
              <a:rPr lang="en-US" sz="16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レッスン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0" y="2788920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約180  </a:t>
            </a:r>
            <a:pPr algn="l" indent="0" marL="0">
              <a:buNone/>
            </a:pPr>
            <a:r>
              <a:rPr lang="en-US" sz="16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0" y="3840480"/>
            <a:ext cx="4233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  </a:t>
            </a:r>
            <a:pPr algn="l" indent="0" marL="0">
              <a:buNone/>
            </a:pPr>
            <a:r>
              <a:rPr lang="en-US" sz="1600" dirty="0">
                <a:solidFill>
                  <a:srgbClr val="55615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作品が残る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3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087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AIを相棒に、
</a:t>
            </a:r>
            <a:endParaRPr lang="en-US" sz="44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「自分で作れる人」へ。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42976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FE0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まずは、無料プレビューのレッスンからご覧ください。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FBBA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AIと一緒につくる Webアプリ開発入門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2026-09-21T02:02:15Z</dcterms:created>
  <dcterms:modified xsi:type="dcterms:W3CDTF">2026-09-21T02:02:15Z</dcterms:modified>
</cp:coreProperties>
</file>